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WEEKEND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🏦 I Built a Banking AI Document Assistant in a Weekend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</a:rPr>
              <a:t>1,000 banking documents. Natural language search. AWS Bedrock + ClickHouse + ChromaDB RAG.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solidFill>
            <a:srgbClr val="0A2244"/>
          </a:solidFill>
          <a:ln w="12700">
            <a:solidFill>
              <a:srgbClr val="1A4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3017520"/>
            <a:ext cx="2560320" cy="822960"/>
          </a:xfrm>
          <a:prstGeom prst="rect">
            <a:avLst/>
          </a:prstGeom>
          <a:solidFill>
            <a:srgbClr val="0A2244"/>
          </a:solidFill>
          <a:ln w="12700">
            <a:solidFill>
              <a:srgbClr val="1A4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solidFill>
            <a:srgbClr val="0A2244"/>
          </a:solidFill>
          <a:ln w="12700">
            <a:solidFill>
              <a:srgbClr val="1A4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1,000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3,948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Vector Chunks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 Engines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ClickHouse + ChromaDB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#AI #Fintech #AWS #RAG #Banking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Bankers Face Every 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051560"/>
          </a:xfrm>
          <a:prstGeom prst="rect">
            <a:avLst/>
          </a:prstGeom>
          <a:solidFill>
            <a:srgbClr val="F8FAFD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91440" cy="10515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8046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40"/>
                </a:solidFill>
              </a:rPr>
              <a:t>Thousands of PDFs — impossible to 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Disputes, complaints, statements all siloed in different folders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1051560"/>
          </a:xfrm>
          <a:prstGeom prst="rect">
            <a:avLst/>
          </a:prstGeom>
          <a:solidFill>
            <a:srgbClr val="F8FAFD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91440" cy="105156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0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0391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40"/>
                </a:solidFill>
              </a:rPr>
              <a:t>Finding one case = opening 20 documents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468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No keyword search, no metadata filter, no way to query across docs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F8FAFD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91440" cy="105156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64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32735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40"/>
                </a:solidFill>
              </a:rPr>
              <a:t>Analytics questions need a data team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How many complaints per branch this year? No one knows without running SQL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685800"/>
            <a:ext cx="4572000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7498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 question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0" y="11612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</a:rPr>
              <a:t>→ instant answer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1005840"/>
          </a:xfrm>
          <a:prstGeom prst="rect">
            <a:avLst/>
          </a:prstGeom>
          <a:solidFill>
            <a:srgbClr val="EDF5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💬 Ask in plain English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No SQL. No training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3931920" cy="1005840"/>
          </a:xfrm>
          <a:prstGeom prst="rect">
            <a:avLst/>
          </a:prstGeom>
          <a:solidFill>
            <a:srgbClr val="EDF5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📚 Searches 1,000 Documents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Every PDF. Every chunk.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005840"/>
          </a:xfrm>
          <a:prstGeom prst="rect">
            <a:avLst/>
          </a:prstGeom>
          <a:solidFill>
            <a:srgbClr val="EDFAF2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27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📎 Cites Source Documents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With links back to PDFs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005840"/>
          </a:xfrm>
          <a:prstGeom prst="rect">
            <a:avLst/>
          </a:prstGeom>
          <a:solidFill>
            <a:srgbClr val="EDFAF2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27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📊 Aggregates All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7"/>
                </a:solidFill>
              </a:rPr>
              <a:t>Counts, trends, breakdowns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Powered by AWS Bedrock · ClickHouse Cloud · ChromaDB · LangChain ·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Smart Dual-Engine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640080"/>
            <a:ext cx="2743200" cy="640080"/>
          </a:xfrm>
          <a:prstGeom prst="rect">
            <a:avLst/>
          </a:prstGeom>
          <a:solidFill>
            <a:srgbClr val="FFF8EE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6766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4400"/>
                </a:solidFill>
              </a:rPr>
              <a:t>🔀 Query Router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950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6600"/>
                </a:solidFill>
              </a:rPr>
              <a:t>automatic intent detection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286000" cy="457200"/>
          </a:xfrm>
          <a:prstGeom prst="line">
            <a:avLst/>
          </a:prstGeom>
          <a:noFill/>
          <a:ln w="25400">
            <a:solidFill>
              <a:srgbClr val="00A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280160"/>
            <a:ext cx="2286000" cy="457200"/>
          </a:xfrm>
          <a:prstGeom prst="line">
            <a:avLst/>
          </a:prstGeom>
          <a:noFill/>
          <a:ln w="25400">
            <a:solidFill>
              <a:srgbClr val="005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3931920" cy="3200400"/>
          </a:xfrm>
          <a:prstGeom prst="rect">
            <a:avLst/>
          </a:prstGeom>
          <a:solidFill>
            <a:srgbClr val="F0FDF6"/>
          </a:solidFill>
          <a:ln w="25400">
            <a:solidFill>
              <a:srgbClr val="00A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63040"/>
            <a:ext cx="3931920" cy="438912"/>
          </a:xfrm>
          <a:prstGeom prst="rect">
            <a:avLst/>
          </a:prstGeom>
          <a:solidFill>
            <a:srgbClr val="00AA66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904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Aggregation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633"/>
                </a:solidFill>
              </a:rPr>
              <a:t>How many disputes per branch?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633"/>
                </a:solidFill>
              </a:rPr>
              <a:t>Which RM handled most cases?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633"/>
                </a:solidFill>
              </a:rPr>
              <a:t>Total compensation by branch?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566160" cy="0"/>
          </a:xfrm>
          <a:prstGeom prst="line">
            <a:avLst/>
          </a:prstGeom>
          <a:noFill/>
          <a:ln w="12700">
            <a:solidFill>
              <a:srgbClr val="C0DD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→ ClickHouse NL→SQL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Scans ALL 1,000 docs. No limits.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463040"/>
            <a:ext cx="3931920" cy="3200400"/>
          </a:xfrm>
          <a:prstGeom prst="rect">
            <a:avLst/>
          </a:prstGeom>
          <a:solidFill>
            <a:srgbClr val="F0F6FF"/>
          </a:solidFill>
          <a:ln w="25400">
            <a:solidFill>
              <a:srgbClr val="0055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463040"/>
            <a:ext cx="3931920" cy="43891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904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🔍 Content Search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1993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AA"/>
                </a:solidFill>
              </a:rPr>
              <a:t>Summarise this complaint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23408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AA"/>
                </a:solidFill>
              </a:rPr>
              <a:t>Why was DSP00047 lost?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688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AA"/>
                </a:solidFill>
              </a:rPr>
              <a:t>What did the customer say?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3063240"/>
            <a:ext cx="3566160" cy="0"/>
          </a:xfrm>
          <a:prstGeom prst="line">
            <a:avLst/>
          </a:prstGeom>
          <a:noFill/>
          <a:ln w="12700">
            <a:solidFill>
              <a:srgbClr val="C0D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→ ChromaDB Vector RAG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3,948 chunks · 256-dim embeddings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Full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Everything used to build this POC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795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</a:rPr>
              <a:t>☁️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1430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D2A4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143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S3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1430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D2A4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43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Bedrock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1430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D2A4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143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Amazon Nova 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11430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D2A4A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143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Titan Embeddings v2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</a:rPr>
              <a:t>🗄️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210312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A2A1A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103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ClickHouse Cloud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A2A1A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103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ReplacingMergeTree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210312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A2A1A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03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NL→SQL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210312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A2A1A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103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ChromaDB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998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</a:rPr>
              <a:t>🐍 DEV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306324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A0A3A"/>
          </a:solidFill>
          <a:ln w="12700">
            <a:solidFill>
              <a:srgbClr val="774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063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LangChain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306324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A0A3A"/>
          </a:solidFill>
          <a:ln w="12700">
            <a:solidFill>
              <a:srgbClr val="774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063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06324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A0A3A"/>
          </a:solidFill>
          <a:ln w="12700">
            <a:solidFill>
              <a:srgbClr val="774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063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Streamlit Cloud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306324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A0A3A"/>
          </a:solidFill>
          <a:ln w="12700">
            <a:solidFill>
              <a:srgbClr val="774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063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pdfplumber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0599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</a:rPr>
              <a:t>🏭 PROD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55448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A1A0A"/>
          </a:solidFill>
          <a:ln w="12700">
            <a:solidFill>
              <a:srgbClr val="CC8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40233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IBM FileNet P8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2900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A1A0A"/>
          </a:solidFill>
          <a:ln w="12700">
            <a:solidFill>
              <a:srgbClr val="CC8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0233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pgvector on 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A1A0A"/>
          </a:solidFill>
          <a:ln w="12700">
            <a:solidFill>
              <a:srgbClr val="CC8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40233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Haiku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Real-Time Dual-Write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1645920" cy="731520"/>
          </a:xfrm>
          <a:prstGeom prst="rect">
            <a:avLst/>
          </a:prstGeom>
          <a:solidFill>
            <a:srgbClr val="EDF5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66"/>
                </a:solidFill>
              </a:rPr>
              <a:t>☁️ S3 PDF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320040" cy="0"/>
          </a:xfrm>
          <a:prstGeom prst="line">
            <a:avLst/>
          </a:prstGeom>
          <a:noFill/>
          <a:ln w="25400">
            <a:solidFill>
              <a:srgbClr val="5566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solidFill>
            <a:srgbClr val="FFF8E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4400"/>
                </a:solidFill>
              </a:rPr>
              <a:t>🐍 ingest.py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463040"/>
            <a:ext cx="2011680" cy="457200"/>
          </a:xfrm>
          <a:prstGeom prst="line">
            <a:avLst/>
          </a:prstGeom>
          <a:noFill/>
          <a:ln w="25400">
            <a:solidFill>
              <a:srgbClr val="774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63040"/>
            <a:ext cx="3291840" cy="457200"/>
          </a:xfrm>
          <a:prstGeom prst="line">
            <a:avLst/>
          </a:prstGeom>
          <a:noFill/>
          <a:ln w="25400">
            <a:solidFill>
              <a:srgbClr val="00A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3200400" cy="822960"/>
          </a:xfrm>
          <a:prstGeom prst="rect">
            <a:avLst/>
          </a:prstGeom>
          <a:solidFill>
            <a:srgbClr val="F6EEFF"/>
          </a:solidFill>
          <a:ln w="12700">
            <a:solidFill>
              <a:srgbClr val="774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2288"/>
                </a:solidFill>
              </a:rPr>
              <a:t>📦 ChromaDB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6699"/>
                </a:solidFill>
              </a:rPr>
              <a:t>Content search · 3,948 chunks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3200400" cy="822960"/>
          </a:xfrm>
          <a:prstGeom prst="rect">
            <a:avLst/>
          </a:prstGeom>
          <a:solidFill>
            <a:srgbClr val="EDFAF2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874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6633"/>
                </a:solidFill>
              </a:rPr>
              <a:t>🗄️ ClickHouse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8855"/>
                </a:solidFill>
              </a:rPr>
              <a:t>Aggregation · 1,000 docs · FINAL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1920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5A5"/>
                </a:solidFill>
              </a:rPr>
              <a:t>3,948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chunks indexed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2880360"/>
            <a:ext cx="1920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A66"/>
                </a:solidFill>
              </a:rPr>
              <a:t>1,000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42316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docs in ClickHouse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1920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900"/>
                </a:solidFill>
              </a:rPr>
              <a:t>Safe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to re-run anytime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2880360"/>
            <a:ext cx="1920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744CC"/>
                </a:solidFill>
              </a:rPr>
              <a:t>Auto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2084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deduplicates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886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3333"/>
                </a:solidFill>
              </a:rPr>
              <a:t>BEFORE: manual CSV → import (goes stale)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6633"/>
                </a:solidFill>
              </a:rPr>
              <a:t>NOW: ./run.sh ingest → both stores sync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 It Can Answer Right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023360" cy="457200"/>
          </a:xfrm>
          <a:prstGeom prst="rect">
            <a:avLst/>
          </a:prstGeom>
          <a:solidFill>
            <a:srgbClr val="EDFAF2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6633"/>
                </a:solidFill>
              </a:rPr>
              <a:t>📊 Aggregation → ClickHouse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How many complaints raised each year?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385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Which branch had the most disputes?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8833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Total compensation paid per RM?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3814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3814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Cases referred to CFPB by year?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640080"/>
            <a:ext cx="4023360" cy="457200"/>
          </a:xfrm>
          <a:prstGeom prst="rect">
            <a:avLst/>
          </a:prstGeom>
          <a:solidFill>
            <a:srgbClr val="EDF5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640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4AA"/>
                </a:solidFill>
              </a:rPr>
              <a:t>🔍 Content → ChromaDB RAG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Summarise Mathew Little's complaint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93852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385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Why was dispute DSP00047 lost?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68833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8833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Show high priority complaints — Leeds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43814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43814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455"/>
                </a:solidFill>
              </a:rPr>
              <a:t>What did the customer claim in this case?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 Cost to Run This POC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685800"/>
            <a:ext cx="5486400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74980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~$1 / month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running cost at 100 questions/day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751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☁️  AWS Bedrock — Nova Lite 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975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6633"/>
                </a:solidFill>
              </a:rPr>
              <a:t>~$0.001 per question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🗄️  S3 Storage — 1,000 PDFs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6633"/>
                </a:solidFill>
              </a:rPr>
              <a:t>$0.00 — free tier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📊  ClickHouse Cloud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926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6633"/>
                </a:solidFill>
              </a:rPr>
              <a:t>$0.00 — free tier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015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🌐  Streamlit Community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401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6633"/>
                </a:solidFill>
              </a:rPr>
              <a:t>$0.00 — free tier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822960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📦  ChromaDB (local index)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877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6633"/>
                </a:solidFill>
              </a:rPr>
              <a:t>$0.00 — open source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solidFill>
            <a:srgbClr val="EDFAF2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6633"/>
                </a:solidFill>
              </a:rPr>
              <a:t>POC total budget spent: $0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Production Ready — One Swap Per Component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114800" cy="1371600"/>
          </a:xfrm>
          <a:prstGeom prst="rect">
            <a:avLst/>
          </a:prstGeom>
          <a:solidFill>
            <a:srgbClr val="FFF8EE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4400"/>
                </a:solidFill>
              </a:rPr>
              <a:t>📁 Storage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AWS S3  →  IBM FileNet P8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FileNet REST/CMIS replaces boto3. Zero chunking changes.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4114800" cy="1371600"/>
          </a:xfrm>
          <a:prstGeom prst="rect">
            <a:avLst/>
          </a:prstGeom>
          <a:solidFill>
            <a:srgbClr val="FFF8EE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4400"/>
                </a:solidFill>
              </a:rPr>
              <a:t>🤖 LLM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0698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Nova Lite  →  Claude Haiku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One line config change. Better reasoning.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114800" cy="1371600"/>
          </a:xfrm>
          <a:prstGeom prst="rect">
            <a:avLst/>
          </a:prstGeom>
          <a:solidFill>
            <a:srgbClr val="FFF8EE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4400"/>
                </a:solidFill>
              </a:rPr>
              <a:t>📦 Vector 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ChromaDB  →  pgvector on 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Same LangChain interface. No chain changes.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4114800" cy="1371600"/>
          </a:xfrm>
          <a:prstGeom prst="rect">
            <a:avLst/>
          </a:prstGeom>
          <a:solidFill>
            <a:srgbClr val="FFF8EE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4400"/>
                </a:solidFill>
              </a:rPr>
              <a:t>🌐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24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Streamlit  →  FastAPI + React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Same RAG chain backend. Just swap the UI layer.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868680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8404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466"/>
                </a:solidFill>
              </a:rPr>
              <a:t>✅ Stays identical: chunking · Titan embeddings · query router · prompts · citations · audit logging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🚀 Live Demo Available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</a:rPr>
              <a:t>Password protected · DM me to access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2560320" cy="1280160"/>
          </a:xfrm>
          <a:prstGeom prst="rect">
            <a:avLst/>
          </a:prstGeom>
          <a:solidFill>
            <a:srgbClr val="0044AA"/>
          </a:solidFill>
          <a:ln w="12700">
            <a:solidFill>
              <a:srgbClr val="22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27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DM for password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Get instant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1280160"/>
          </a:xfrm>
          <a:prstGeom prst="rect">
            <a:avLst/>
          </a:prstGeom>
          <a:solidFill>
            <a:srgbClr val="116633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27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Repo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dpanwar-vigyan/securebank-ai-poc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2560320" cy="1280160"/>
          </a:xfrm>
          <a:prstGeom prst="rect">
            <a:avLst/>
          </a:prstGeom>
          <a:solidFill>
            <a:srgbClr val="8844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27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Diagrams in comments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3A66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1,000 docs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32461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3A66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3,948 chunks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3A66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256-dim embeddings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32461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3A66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~$1/month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#BankingAI #RAG #AWSBedrock #ClickHouse #LangChain #Fintech #AIDemo #GenAI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SecureBank AI LinkedIn Carousel</dc:title>
  <dc:subject>PptxGenJS Presentation</dc:subject>
  <dc:creator>SecureBank AI</dc:creator>
  <cp:lastModifiedBy>SecureBank AI</cp:lastModifiedBy>
  <cp:revision>1</cp:revision>
  <dcterms:created xsi:type="dcterms:W3CDTF">2026-04-14T05:34:56Z</dcterms:created>
  <dcterms:modified xsi:type="dcterms:W3CDTF">2026-04-14T05:34:56Z</dcterms:modified>
</cp:coreProperties>
</file>